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71c8b5b-4904-59ed-9c07-39189ee12b90}">
          <p14:sldIdLst>
            <p14:sldId id="256"/>
            <p14:sldId id="257"/>
          </p14:sldIdLst>
        </p14:section>
        <p14:section name="The Paradigms" id="{d8ed7fe3-9403-7493-73e6-decb7da0caf5}">
          <p14:sldIdLst>
            <p14:sldId id="258"/>
            <p14:sldId id="259"/>
          </p14:sldIdLst>
        </p14:section>
        <p14:section name="Comparison" id="{c00573eb-af3e-1a24-c318-49a1fa7551c3}">
          <p14:sldIdLst>
            <p14:sldId id="260"/>
            <p14:sldId id="261"/>
            <p14:sldId id="262"/>
          </p14:sldIdLst>
        </p14:section>
        <p14:section name="Applications &amp; Adoption" id="{0bc2f838-163a-2069-fc67-06bd9830484f}">
          <p14:sldIdLst>
            <p14:sldId id="263"/>
            <p14:sldId id="264"/>
          </p14:sldIdLst>
        </p14:section>
        <p14:section name="Decision &amp; Wrap-up" id="{d0483b56-7904-9b94-274a-a231f4474d29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864"/>
                </a:solidFill>
                <a:latin typeface="+mn-lt"/>
              </a:rPr>
              <a:t>Typical round-trip latency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F386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Edge (local)</c:v>
                  </c:pt>
                  <c:pt idx="1">
                    <c:v>Regional cloud</c:v>
                  </c:pt>
                  <c:pt idx="2">
                    <c:v>Distant cloud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40</c:v>
                </c:pt>
                <c:pt idx="2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F386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2B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9525" cap="flat">
              <a:solidFill>
                <a:srgbClr val="D9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compares edge computing and cloud computing and shows how to choose between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parts: the two paradigms, architecture, applications, industry adoption and the decision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computing delivers computing resources over the internet from large centralized data centers.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computing moves processing close to where data is created, such as sensors, gateways and local servers.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cloud model data travels to a central data center. In the edge model an edge node processes it nearby and may forward a summary to the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row: location, latency, bandwidth, scalability, privacy and connectivity.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figures: processing closer to the device cuts the round-trip delay. Real values depend on network and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suits heavy, shared, elastic workloads. Edge suits real-time, local, latency-critical workloads.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industries land on a hybrid model; the mix depends on latency needs and data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three columns as a quick checklist. Most real systems end up hybrid.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two complementary paradigms, choose by latency, scale, privacy and connectivity.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imat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1005840" cy="394106"/>
          </a:xfrm>
          <a:prstGeom prst="rect">
            <a:avLst/>
          </a:prstGeom>
        </p:spPr>
      </p:pic>
      <p:pic>
        <p:nvPicPr>
          <p:cNvPr id="3" name="Image 1" descr="assets/em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37160"/>
            <a:ext cx="548640" cy="46451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CSA1514  |  CLOUD COMPUTING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554480" y="182880"/>
            <a:ext cx="6035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188720" cy="548640"/>
          </a:xfrm>
          <a:prstGeom prst="rect">
            <a:avLst>
              <a:gd name="adj" fmla="val 16667"/>
            </a:avLst>
          </a:prstGeom>
          <a:solidFill>
            <a:schemeClr val="bg1"/>
          </a:solidFill>
          <a:ln/>
        </p:spPr>
      </p:sp>
      <p:pic>
        <p:nvPicPr>
          <p:cNvPr id="3" name="Image 0" descr="assets/simat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1005840" cy="39410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38160" y="109728"/>
            <a:ext cx="640080" cy="566928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5" name="Image 1" descr="assets/em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37160"/>
            <a:ext cx="548640" cy="464515"/>
          </a:xfrm>
          <a:prstGeom prst="rect">
            <a:avLst/>
          </a:prstGeom>
        </p:spPr>
      </p:pic>
      <p:sp>
        <p:nvSpPr>
          <p:cNvPr id="6" name="Text 2"/>
          <p:cNvSpPr/>
          <p:nvPr>
            <p:ph idx="104" type="title" hasCustomPrompt="1"/>
          </p:nvPr>
        </p:nvSpPr>
        <p:spPr>
          <a:xfrm>
            <a:off x="1554480" y="182880"/>
            <a:ext cx="6035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" name="Image 0" descr="assets/simat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188720" cy="466344"/>
          </a:xfrm>
          <a:prstGeom prst="rect">
            <a:avLst/>
          </a:prstGeom>
        </p:spPr>
      </p:pic>
      <p:pic>
        <p:nvPicPr>
          <p:cNvPr id="4" name="Image 1" descr="assets/em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28600"/>
            <a:ext cx="640080" cy="542239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57200" y="1325880"/>
            <a:ext cx="4297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PLAIN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TECHNICAL PRESENTATION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13258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Edge Computing vs Cloud Computing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Choosing the Right Computing Paradigm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63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SUBJECT CODE 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CSA1514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SUBJECT NAME 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CLOUD COMPUTING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404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Faculty 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DR.LATHA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Name 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____________________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Reg.NO 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____________________</a:t>
            </a:r>
            <a:endParaRPr lang="en-US" sz="1400" dirty="0"/>
          </a:p>
        </p:txBody>
      </p:sp>
      <p:pic>
        <p:nvPicPr>
          <p:cNvPr id="7" name="Hero illustration" descr="Cloud connected to edge nodes and dev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82296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1554480" y="1828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We Will Cover</a:t>
            </a:r>
            <a:endParaRPr lang="en-US" sz="3000" dirty="0"/>
          </a:p>
        </p:txBody>
      </p:sp>
      <p:sp>
        <p:nvSpPr>
          <p:cNvPr id="4" name="Agenda card 1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5" name="Cloud Computing circle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loud Computing icon" descr="Cloud Compu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7734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9456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103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Cloud Computing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Centralized, scalable services</a:t>
            </a:r>
            <a:endParaRPr lang="en-US" sz="1400" dirty="0"/>
          </a:p>
        </p:txBody>
      </p:sp>
      <p:sp>
        <p:nvSpPr>
          <p:cNvPr id="10" name="Agenda card 2"/>
          <p:cNvSpPr/>
          <p:nvPr/>
        </p:nvSpPr>
        <p:spPr>
          <a:xfrm>
            <a:off x="326898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1" name="Edge Computing circle"/>
          <p:cNvSpPr/>
          <p:nvPr/>
        </p:nvSpPr>
        <p:spPr>
          <a:xfrm>
            <a:off x="3497580" y="1417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Edge Computing icon" descr="Edge Comput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5773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0634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497580" y="2103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Edge Computing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349758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Processing near the data</a:t>
            </a:r>
            <a:endParaRPr lang="en-US" sz="1400" dirty="0"/>
          </a:p>
        </p:txBody>
      </p:sp>
      <p:sp>
        <p:nvSpPr>
          <p:cNvPr id="16" name="Agenda card 3"/>
          <p:cNvSpPr/>
          <p:nvPr/>
        </p:nvSpPr>
        <p:spPr>
          <a:xfrm>
            <a:off x="608076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7" name="Architecture circle"/>
          <p:cNvSpPr/>
          <p:nvPr/>
        </p:nvSpPr>
        <p:spPr>
          <a:xfrm>
            <a:off x="6309360" y="14173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Architecture icon" descr="Architectu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57734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81812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6309360" y="2103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630936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the two are built</a:t>
            </a:r>
            <a:endParaRPr lang="en-US" sz="1400" dirty="0"/>
          </a:p>
        </p:txBody>
      </p:sp>
      <p:sp>
        <p:nvSpPr>
          <p:cNvPr id="22" name="Agenda card 4"/>
          <p:cNvSpPr/>
          <p:nvPr/>
        </p:nvSpPr>
        <p:spPr>
          <a:xfrm>
            <a:off x="457200" y="297180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3" name="Applications circle"/>
          <p:cNvSpPr/>
          <p:nvPr/>
        </p:nvSpPr>
        <p:spPr>
          <a:xfrm>
            <a:off x="685800" y="3200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Applications icon" descr="Applica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36042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219456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19"/>
          <p:cNvSpPr txBox="1"/>
          <p:nvPr/>
        </p:nvSpPr>
        <p:spPr>
          <a:xfrm>
            <a:off x="685800" y="3886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Applications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685800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Where each one shines</a:t>
            </a:r>
            <a:endParaRPr lang="en-US" sz="1400" dirty="0"/>
          </a:p>
        </p:txBody>
      </p:sp>
      <p:sp>
        <p:nvSpPr>
          <p:cNvPr id="28" name="Agenda card 5"/>
          <p:cNvSpPr/>
          <p:nvPr/>
        </p:nvSpPr>
        <p:spPr>
          <a:xfrm>
            <a:off x="3268980" y="297180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9" name="Industry Adoption circle"/>
          <p:cNvSpPr/>
          <p:nvPr/>
        </p:nvSpPr>
        <p:spPr>
          <a:xfrm>
            <a:off x="3497580" y="3200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ndustry Adoption icon" descr="Industry Adop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36042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00634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2400" dirty="0"/>
          </a:p>
        </p:txBody>
      </p:sp>
      <p:sp>
        <p:nvSpPr>
          <p:cNvPr id="32" name="Text 24"/>
          <p:cNvSpPr txBox="1"/>
          <p:nvPr/>
        </p:nvSpPr>
        <p:spPr>
          <a:xfrm>
            <a:off x="3497580" y="3886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Industry Adoption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3497580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Real-world scenarios</a:t>
            </a:r>
            <a:endParaRPr lang="en-US" sz="1400" dirty="0"/>
          </a:p>
        </p:txBody>
      </p:sp>
      <p:sp>
        <p:nvSpPr>
          <p:cNvPr id="34" name="Agenda card 6"/>
          <p:cNvSpPr/>
          <p:nvPr/>
        </p:nvSpPr>
        <p:spPr>
          <a:xfrm>
            <a:off x="6080760" y="297180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35" name="Right Choice circle"/>
          <p:cNvSpPr/>
          <p:nvPr/>
        </p:nvSpPr>
        <p:spPr>
          <a:xfrm>
            <a:off x="6309360" y="32004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6" name="Right Choice icon" descr="Right Choi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380" y="3360420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81812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2400" dirty="0"/>
          </a:p>
        </p:txBody>
      </p:sp>
      <p:sp>
        <p:nvSpPr>
          <p:cNvPr id="38" name="Text 29"/>
          <p:cNvSpPr txBox="1"/>
          <p:nvPr/>
        </p:nvSpPr>
        <p:spPr>
          <a:xfrm>
            <a:off x="6309360" y="3886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Right Choice</a:t>
            </a:r>
            <a:endParaRPr lang="en-US" sz="1700" dirty="0"/>
          </a:p>
        </p:txBody>
      </p:sp>
      <p:sp>
        <p:nvSpPr>
          <p:cNvPr id="39" name="Text 30"/>
          <p:cNvSpPr txBox="1"/>
          <p:nvPr/>
        </p:nvSpPr>
        <p:spPr>
          <a:xfrm>
            <a:off x="6309360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Edge, cloud or hybrid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1554480" y="1828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is Cloud Computing?</a:t>
            </a:r>
            <a:endParaRPr lang="en-US" sz="3000" dirty="0"/>
          </a:p>
        </p:txBody>
      </p:sp>
      <p:sp>
        <p:nvSpPr>
          <p:cNvPr id="4" name="Centralized data centers circle"/>
          <p:cNvSpPr/>
          <p:nvPr/>
        </p:nvSpPr>
        <p:spPr>
          <a:xfrm>
            <a:off x="457200" y="11887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entralized data centers icon" descr="Centralized data cen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1330452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1430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Centralized data centers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1188720" y="14538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Compute and storage run in large remote facilities.</a:t>
            </a:r>
            <a:endParaRPr lang="en-US" sz="1400" dirty="0"/>
          </a:p>
        </p:txBody>
      </p:sp>
      <p:sp>
        <p:nvSpPr>
          <p:cNvPr id="8" name="On-demand scalability circle"/>
          <p:cNvSpPr/>
          <p:nvPr/>
        </p:nvSpPr>
        <p:spPr>
          <a:xfrm>
            <a:off x="457200" y="2075688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On-demand scalability icon" descr="On-demand scalabil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" y="2217420"/>
            <a:ext cx="283464" cy="28346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029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On-demand scalability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188720" y="23408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or remove resources in minutes as load changes.</a:t>
            </a:r>
            <a:endParaRPr lang="en-US" sz="1400" dirty="0"/>
          </a:p>
        </p:txBody>
      </p:sp>
      <p:sp>
        <p:nvSpPr>
          <p:cNvPr id="12" name="Pay-as-you-go pricing circle"/>
          <p:cNvSpPr/>
          <p:nvPr/>
        </p:nvSpPr>
        <p:spPr>
          <a:xfrm>
            <a:off x="457200" y="296265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Pay-as-you-go pricing icon" descr="Pay-as-you-go pric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310438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29169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Pay-as-you-go pricing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1188720" y="32278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Pay only for what you use, with no upfront hardware.</a:t>
            </a:r>
            <a:endParaRPr lang="en-US" sz="1400" dirty="0"/>
          </a:p>
        </p:txBody>
      </p:sp>
      <p:sp>
        <p:nvSpPr>
          <p:cNvPr id="16" name="Global access circle"/>
          <p:cNvSpPr/>
          <p:nvPr/>
        </p:nvSpPr>
        <p:spPr>
          <a:xfrm>
            <a:off x="457200" y="38496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Global access icon" descr="Global acce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" y="3991356"/>
            <a:ext cx="283464" cy="28346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38039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Global access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118872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Reach services from any device with an internet link.</a:t>
            </a:r>
            <a:endParaRPr lang="en-US" sz="1400" dirty="0"/>
          </a:p>
        </p:txBody>
      </p:sp>
      <p:pic>
        <p:nvPicPr>
          <p:cNvPr id="20" name="Cloud illustration" descr="Cloud connected to three server rack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097280"/>
            <a:ext cx="3474720" cy="302666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21208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Examples: AWS, Microsoft Azure, Google Cloud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1554480" y="1828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is Edge Computing?</a:t>
            </a:r>
            <a:endParaRPr lang="en-US" sz="3000" dirty="0"/>
          </a:p>
        </p:txBody>
      </p:sp>
      <p:pic>
        <p:nvPicPr>
          <p:cNvPr id="4" name="Edge illustration" descr="Sensors feeding an edge node linked to a dashboard and the 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474720" cy="302666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Sensors, gateways and local servers</a:t>
            </a:r>
            <a:endParaRPr lang="en-US" sz="1400" dirty="0"/>
          </a:p>
        </p:txBody>
      </p:sp>
      <p:sp>
        <p:nvSpPr>
          <p:cNvPr id="6" name="Processing near the source circle"/>
          <p:cNvSpPr/>
          <p:nvPr/>
        </p:nvSpPr>
        <p:spPr>
          <a:xfrm>
            <a:off x="4297680" y="118872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Processing near the source icon" descr="Processing near the sour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1330452"/>
            <a:ext cx="283464" cy="28346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029200" y="11430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Processing near the source</a:t>
            </a:r>
            <a:endParaRPr lang="en-US" sz="1700" dirty="0"/>
          </a:p>
        </p:txBody>
      </p:sp>
      <p:sp>
        <p:nvSpPr>
          <p:cNvPr id="9" name="Text 4"/>
          <p:cNvSpPr txBox="1"/>
          <p:nvPr/>
        </p:nvSpPr>
        <p:spPr>
          <a:xfrm>
            <a:off x="5029200" y="14538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is handled at or next to the device that makes it.</a:t>
            </a:r>
            <a:endParaRPr lang="en-US" sz="1400" dirty="0"/>
          </a:p>
        </p:txBody>
      </p:sp>
      <p:sp>
        <p:nvSpPr>
          <p:cNvPr id="10" name="Ultra-low latency circle"/>
          <p:cNvSpPr/>
          <p:nvPr/>
        </p:nvSpPr>
        <p:spPr>
          <a:xfrm>
            <a:off x="4297680" y="207568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Ultra-low latency icon" descr="Ultra-low latenc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412" y="2217420"/>
            <a:ext cx="283464" cy="28346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029200" y="20299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Ultra-low latency</a:t>
            </a:r>
            <a:endParaRPr lang="en-US" sz="1700" dirty="0"/>
          </a:p>
        </p:txBody>
      </p:sp>
      <p:sp>
        <p:nvSpPr>
          <p:cNvPr id="13" name="Text 7"/>
          <p:cNvSpPr txBox="1"/>
          <p:nvPr/>
        </p:nvSpPr>
        <p:spPr>
          <a:xfrm>
            <a:off x="5029200" y="2340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Responses in milliseconds, with no long network trip.</a:t>
            </a:r>
            <a:endParaRPr lang="en-US" sz="1400" dirty="0"/>
          </a:p>
        </p:txBody>
      </p:sp>
      <p:sp>
        <p:nvSpPr>
          <p:cNvPr id="14" name="Less bandwidth used circle"/>
          <p:cNvSpPr/>
          <p:nvPr/>
        </p:nvSpPr>
        <p:spPr>
          <a:xfrm>
            <a:off x="4297680" y="2962656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Less bandwidth used icon" descr="Less bandwidth us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412" y="3104388"/>
            <a:ext cx="283464" cy="28346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029200" y="29169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Less bandwidth used</a:t>
            </a:r>
            <a:endParaRPr lang="en-US" sz="1700" dirty="0"/>
          </a:p>
        </p:txBody>
      </p:sp>
      <p:sp>
        <p:nvSpPr>
          <p:cNvPr id="17" name="Text 10"/>
          <p:cNvSpPr txBox="1"/>
          <p:nvPr/>
        </p:nvSpPr>
        <p:spPr>
          <a:xfrm>
            <a:off x="5029200" y="3227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filtered, useful data is sent on to the cloud.</a:t>
            </a:r>
            <a:endParaRPr lang="en-US" sz="1400" dirty="0"/>
          </a:p>
        </p:txBody>
      </p:sp>
      <p:sp>
        <p:nvSpPr>
          <p:cNvPr id="18" name="Works with weak links circle"/>
          <p:cNvSpPr/>
          <p:nvPr/>
        </p:nvSpPr>
        <p:spPr>
          <a:xfrm>
            <a:off x="4297680" y="3849624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Works with weak links icon" descr="Works with weak link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412" y="3991356"/>
            <a:ext cx="283464" cy="28346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029200" y="3803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Works with weak links</a:t>
            </a:r>
            <a:endParaRPr lang="en-US" sz="1700" dirty="0"/>
          </a:p>
        </p:txBody>
      </p:sp>
      <p:sp>
        <p:nvSpPr>
          <p:cNvPr id="21" name="Text 13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Keeps running when connectivity is slow or lost.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1554480" y="1828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Architecture Compared</a:t>
            </a:r>
            <a:endParaRPr lang="en-US" sz="3000" dirty="0"/>
          </a:p>
        </p:txBody>
      </p:sp>
      <p:sp>
        <p:nvSpPr>
          <p:cNvPr id="4" name="Cloud Architecture lane"/>
          <p:cNvSpPr/>
          <p:nvPr/>
        </p:nvSpPr>
        <p:spPr>
          <a:xfrm>
            <a:off x="457200" y="1097280"/>
            <a:ext cx="82296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Cloud Architecture</a:t>
            </a:r>
            <a:endParaRPr lang="en-US" sz="1600" dirty="0"/>
          </a:p>
        </p:txBody>
      </p:sp>
      <p:sp>
        <p:nvSpPr>
          <p:cNvPr id="6" name="Devices circle"/>
          <p:cNvSpPr/>
          <p:nvPr/>
        </p:nvSpPr>
        <p:spPr>
          <a:xfrm>
            <a:off x="109728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Devices icon" descr="Dev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830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2359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Devices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1920240" y="1965960"/>
            <a:ext cx="173736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Internet circle"/>
          <p:cNvSpPr/>
          <p:nvPr/>
        </p:nvSpPr>
        <p:spPr>
          <a:xfrm>
            <a:off x="3749040" y="16002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nternet icon" descr="Intern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7830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246120" y="2359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Internet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4572000" y="1965960"/>
            <a:ext cx="173736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Cloud Data Center circle"/>
          <p:cNvSpPr/>
          <p:nvPr/>
        </p:nvSpPr>
        <p:spPr>
          <a:xfrm>
            <a:off x="640080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Cloud Data Center icon" descr="Cloud Data Ce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7830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897880" y="2359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Cloud Data Center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5212080" y="12070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Higher latency, central control</a:t>
            </a:r>
            <a:endParaRPr lang="en-US" sz="1400" dirty="0"/>
          </a:p>
        </p:txBody>
      </p:sp>
      <p:sp>
        <p:nvSpPr>
          <p:cNvPr id="18" name="Edge Architecture lane"/>
          <p:cNvSpPr/>
          <p:nvPr/>
        </p:nvSpPr>
        <p:spPr>
          <a:xfrm>
            <a:off x="457200" y="2880360"/>
            <a:ext cx="82296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Edge Architecture</a:t>
            </a:r>
            <a:endParaRPr lang="en-US" sz="1600" dirty="0"/>
          </a:p>
        </p:txBody>
      </p:sp>
      <p:sp>
        <p:nvSpPr>
          <p:cNvPr id="20" name="Devices circle"/>
          <p:cNvSpPr/>
          <p:nvPr/>
        </p:nvSpPr>
        <p:spPr>
          <a:xfrm>
            <a:off x="1097280" y="33832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Devices icon" descr="Devic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5661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9436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Devices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1920240" y="3749040"/>
            <a:ext cx="173736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Edge Node circle"/>
          <p:cNvSpPr/>
          <p:nvPr/>
        </p:nvSpPr>
        <p:spPr>
          <a:xfrm>
            <a:off x="3749040" y="33832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Edge Node icon" descr="Edge No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356616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24612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Edge Node</a:t>
            </a:r>
            <a:endParaRPr lang="en-US" sz="1400" dirty="0"/>
          </a:p>
        </p:txBody>
      </p:sp>
      <p:sp>
        <p:nvSpPr>
          <p:cNvPr id="27" name="Arrow"/>
          <p:cNvSpPr/>
          <p:nvPr/>
        </p:nvSpPr>
        <p:spPr>
          <a:xfrm>
            <a:off x="4572000" y="3749040"/>
            <a:ext cx="173736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28" name="Cloud (optional) circle"/>
          <p:cNvSpPr/>
          <p:nvPr/>
        </p:nvSpPr>
        <p:spPr>
          <a:xfrm>
            <a:off x="6400800" y="33832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Cloud (optional) icon" descr="Cloud (optional)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566160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89788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Cloud (optional)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5212080" y="29900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Fast local decisions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1554480" y="1828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Cloud vs Edge: Key Differences</a:t>
            </a:r>
            <a:endParaRPr lang="en-US" sz="3000" dirty="0"/>
          </a:p>
        </p:txBody>
      </p:sp>
      <p:graphicFrame>
        <p:nvGraphicFramePr>
          <p:cNvPr id="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54680"/>
                <a:gridCol w="3154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Cloud Computing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Edge Computing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Processing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A"/>
                          </a:solidFill>
                        </a:rPr>
                        <a:t>Centralized data centers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A"/>
                          </a:solidFill>
                        </a:rPr>
                        <a:t>Near the data source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Latency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A"/>
                          </a:solidFill>
                        </a:rPr>
                        <a:t>Higher (network round trip)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A"/>
                          </a:solidFill>
                        </a:rPr>
                        <a:t>Very low (local response)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Bandwidth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A"/>
                          </a:solidFill>
                        </a:rPr>
                        <a:t>Raw data sent to cloud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A"/>
                          </a:solidFill>
                        </a:rPr>
                        <a:t>Filtered data sent upstream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Scalability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A"/>
                          </a:solidFill>
                        </a:rPr>
                        <a:t>Virtually unlimited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A"/>
                          </a:solidFill>
                        </a:rPr>
                        <a:t>Bound by local hardware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Privacy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A"/>
                          </a:solidFill>
                        </a:rPr>
                        <a:t>Data travels over networks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A"/>
                          </a:solidFill>
                        </a:rPr>
                        <a:t>Sensitive data stays on-site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Connectivity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A"/>
                          </a:solidFill>
                        </a:rPr>
                        <a:t>Needs a reliable internet link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A"/>
                          </a:solidFill>
                        </a:rPr>
                        <a:t>Works with weak or no link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1554480" y="1828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Latency: Why Edge Is Faster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315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Illustrative values; actual latency depends on network and distance.</a:t>
            </a:r>
            <a:endParaRPr lang="en-US" sz="1200" dirty="0"/>
          </a:p>
        </p:txBody>
      </p:sp>
      <p:sp>
        <p:nvSpPr>
          <p:cNvPr id="6" name="Stat card 1"/>
          <p:cNvSpPr/>
          <p:nvPr/>
        </p:nvSpPr>
        <p:spPr>
          <a:xfrm>
            <a:off x="5760720" y="1188720"/>
            <a:ext cx="29260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943600" y="12984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1–10 ms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19385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Edge: processing happens beside the device</a:t>
            </a:r>
            <a:endParaRPr lang="en-US" sz="1400" dirty="0"/>
          </a:p>
        </p:txBody>
      </p:sp>
      <p:sp>
        <p:nvSpPr>
          <p:cNvPr id="9" name="Stat card 2"/>
          <p:cNvSpPr/>
          <p:nvPr/>
        </p:nvSpPr>
        <p:spPr>
          <a:xfrm>
            <a:off x="5760720" y="2743200"/>
            <a:ext cx="29260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943600" y="28529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50–150 ms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943600" y="34930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Cloud: round trip to a remote data center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1554480" y="1828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Applications of Each Paradigm</a:t>
            </a:r>
            <a:endParaRPr lang="en-US" sz="3000" dirty="0"/>
          </a:p>
        </p:txBody>
      </p:sp>
      <p:sp>
        <p:nvSpPr>
          <p:cNvPr id="4" name="Cloud Computing card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5" name="Cloud Computing header"/>
          <p:cNvSpPr/>
          <p:nvPr/>
        </p:nvSpPr>
        <p:spPr>
          <a:xfrm>
            <a:off x="457200" y="1097280"/>
            <a:ext cx="402336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6" name="Cloud Computing icon" descr="Cloud Compu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16152"/>
            <a:ext cx="310896" cy="3108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7280" y="1097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Cloud Computing</a:t>
            </a:r>
            <a:endParaRPr lang="en-US" sz="2000" dirty="0"/>
          </a:p>
        </p:txBody>
      </p:sp>
      <p:sp>
        <p:nvSpPr>
          <p:cNvPr id="8" name="Big data analytics circle"/>
          <p:cNvSpPr/>
          <p:nvPr/>
        </p:nvSpPr>
        <p:spPr>
          <a:xfrm>
            <a:off x="685800" y="18105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Big data analytics icon" descr="Big data analyti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1936242"/>
            <a:ext cx="251460" cy="2514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18105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Big data analytics</a:t>
            </a:r>
            <a:endParaRPr lang="en-US" sz="1500" dirty="0"/>
          </a:p>
        </p:txBody>
      </p:sp>
      <p:sp>
        <p:nvSpPr>
          <p:cNvPr id="11" name="SaaS and web applications circle"/>
          <p:cNvSpPr/>
          <p:nvPr/>
        </p:nvSpPr>
        <p:spPr>
          <a:xfrm>
            <a:off x="685800" y="24963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SaaS and web applications icon" descr="SaaS and web applica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2622042"/>
            <a:ext cx="251460" cy="2514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2496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SaaS and web applications</a:t>
            </a:r>
            <a:endParaRPr lang="en-US" sz="1500" dirty="0"/>
          </a:p>
        </p:txBody>
      </p:sp>
      <p:sp>
        <p:nvSpPr>
          <p:cNvPr id="14" name="Backup and disaster recovery circle"/>
          <p:cNvSpPr/>
          <p:nvPr/>
        </p:nvSpPr>
        <p:spPr>
          <a:xfrm>
            <a:off x="685800" y="31821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Backup and disaster recovery icon" descr="Backup and disaster recove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3307842"/>
            <a:ext cx="251460" cy="25146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71600" y="31821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Backup and disaster recovery</a:t>
            </a:r>
            <a:endParaRPr lang="en-US" sz="1500" dirty="0"/>
          </a:p>
        </p:txBody>
      </p:sp>
      <p:sp>
        <p:nvSpPr>
          <p:cNvPr id="17" name="AI and ML model training circle"/>
          <p:cNvSpPr/>
          <p:nvPr/>
        </p:nvSpPr>
        <p:spPr>
          <a:xfrm>
            <a:off x="685800" y="38679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AI and ML model training icon" descr="AI and ML model train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3993642"/>
            <a:ext cx="251460" cy="25146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71600" y="38679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and ML model training</a:t>
            </a:r>
            <a:endParaRPr lang="en-US" sz="1500" dirty="0"/>
          </a:p>
        </p:txBody>
      </p:sp>
      <p:sp>
        <p:nvSpPr>
          <p:cNvPr id="20" name="Edge Computing card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21" name="Edge Computing header"/>
          <p:cNvSpPr/>
          <p:nvPr/>
        </p:nvSpPr>
        <p:spPr>
          <a:xfrm>
            <a:off x="4663440" y="1097280"/>
            <a:ext cx="402336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pic>
        <p:nvPicPr>
          <p:cNvPr id="22" name="Edge Computing icon" descr="Edge Comput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216152"/>
            <a:ext cx="310896" cy="310896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303520" y="1097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24" name="Autonomous vehicles circle"/>
          <p:cNvSpPr/>
          <p:nvPr/>
        </p:nvSpPr>
        <p:spPr>
          <a:xfrm>
            <a:off x="4892040" y="181051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Autonomous vehicles icon" descr="Autonomous vehicl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7770" y="1936242"/>
            <a:ext cx="251460" cy="25146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5577840" y="18105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Autonomous vehicles</a:t>
            </a:r>
            <a:endParaRPr lang="en-US" sz="1500" dirty="0"/>
          </a:p>
        </p:txBody>
      </p:sp>
      <p:sp>
        <p:nvSpPr>
          <p:cNvPr id="27" name="Smart factories and IoT circle"/>
          <p:cNvSpPr/>
          <p:nvPr/>
        </p:nvSpPr>
        <p:spPr>
          <a:xfrm>
            <a:off x="4892040" y="249631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Smart factories and IoT icon" descr="Smart factories and Io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7770" y="2622042"/>
            <a:ext cx="251460" cy="25146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5577840" y="2496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Smart factories and IoT</a:t>
            </a:r>
            <a:endParaRPr lang="en-US" sz="1500" dirty="0"/>
          </a:p>
        </p:txBody>
      </p:sp>
      <p:sp>
        <p:nvSpPr>
          <p:cNvPr id="30" name="Real-time video analytics circle"/>
          <p:cNvSpPr/>
          <p:nvPr/>
        </p:nvSpPr>
        <p:spPr>
          <a:xfrm>
            <a:off x="4892040" y="318211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Real-time video analytics icon" descr="Real-time video analytic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7770" y="3307842"/>
            <a:ext cx="251460" cy="25146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5577840" y="31821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Real-time video analytics</a:t>
            </a:r>
            <a:endParaRPr lang="en-US" sz="1500" dirty="0"/>
          </a:p>
        </p:txBody>
      </p:sp>
      <p:sp>
        <p:nvSpPr>
          <p:cNvPr id="33" name="AR/VR and gaming circle"/>
          <p:cNvSpPr/>
          <p:nvPr/>
        </p:nvSpPr>
        <p:spPr>
          <a:xfrm>
            <a:off x="4892040" y="386791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4" name="AR/VR and gaming icon" descr="AR/VR and gami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7770" y="3993642"/>
            <a:ext cx="251460" cy="2514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5577840" y="38679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AR/VR and gaming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1554480" y="1828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Industry Adoption Scenarios</a:t>
            </a:r>
            <a:endParaRPr lang="en-US" sz="3000" dirty="0"/>
          </a:p>
        </p:txBody>
      </p:sp>
      <p:sp>
        <p:nvSpPr>
          <p:cNvPr id="4" name="Manufacturing card"/>
          <p:cNvSpPr/>
          <p:nvPr/>
        </p:nvSpPr>
        <p:spPr>
          <a:xfrm>
            <a:off x="457200" y="1097280"/>
            <a:ext cx="4023360" cy="1673352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5" name="Manufacturing circle"/>
          <p:cNvSpPr/>
          <p:nvPr/>
        </p:nvSpPr>
        <p:spPr>
          <a:xfrm>
            <a:off x="68580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anufacturing icon" descr="Manufactu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2252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Manufacturing</a:t>
            </a:r>
            <a:endParaRPr lang="en-US" sz="1700" dirty="0"/>
          </a:p>
        </p:txBody>
      </p:sp>
      <p:sp>
        <p:nvSpPr>
          <p:cNvPr id="8" name="Manufacturing tag"/>
          <p:cNvSpPr/>
          <p:nvPr/>
        </p:nvSpPr>
        <p:spPr>
          <a:xfrm>
            <a:off x="1600200" y="1581912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600200" y="1581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Hybrid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19019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Edge inspects products and controls machines live; cloud plans and analyzes.</a:t>
            </a:r>
            <a:endParaRPr lang="en-US" sz="1400" dirty="0"/>
          </a:p>
        </p:txBody>
      </p:sp>
      <p:sp>
        <p:nvSpPr>
          <p:cNvPr id="11" name="Healthcare card"/>
          <p:cNvSpPr/>
          <p:nvPr/>
        </p:nvSpPr>
        <p:spPr>
          <a:xfrm>
            <a:off x="4663440" y="1097280"/>
            <a:ext cx="4023360" cy="1673352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12" name="Healthcare circle"/>
          <p:cNvSpPr/>
          <p:nvPr/>
        </p:nvSpPr>
        <p:spPr>
          <a:xfrm>
            <a:off x="4892040" y="13258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Healthcare icon" descr="Healthc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087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806440" y="12252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Healthcare</a:t>
            </a:r>
            <a:endParaRPr lang="en-US" sz="1700" dirty="0"/>
          </a:p>
        </p:txBody>
      </p:sp>
      <p:sp>
        <p:nvSpPr>
          <p:cNvPr id="15" name="Healthcare tag"/>
          <p:cNvSpPr/>
          <p:nvPr/>
        </p:nvSpPr>
        <p:spPr>
          <a:xfrm>
            <a:off x="5806440" y="1581912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806440" y="1581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Hybrid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806440" y="19019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Edge monitors patients at the bedside; cloud stores records and scans.</a:t>
            </a:r>
            <a:endParaRPr lang="en-US" sz="1400" dirty="0"/>
          </a:p>
        </p:txBody>
      </p:sp>
      <p:sp>
        <p:nvSpPr>
          <p:cNvPr id="18" name="Retail card"/>
          <p:cNvSpPr/>
          <p:nvPr/>
        </p:nvSpPr>
        <p:spPr>
          <a:xfrm>
            <a:off x="457200" y="2907792"/>
            <a:ext cx="4023360" cy="1673352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19" name="Retail circle"/>
          <p:cNvSpPr/>
          <p:nvPr/>
        </p:nvSpPr>
        <p:spPr>
          <a:xfrm>
            <a:off x="685800" y="3136392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Retail icon" descr="Reta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1927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30358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Retail</a:t>
            </a:r>
            <a:endParaRPr lang="en-US" sz="1700" dirty="0"/>
          </a:p>
        </p:txBody>
      </p:sp>
      <p:sp>
        <p:nvSpPr>
          <p:cNvPr id="22" name="Retail tag"/>
          <p:cNvSpPr/>
          <p:nvPr/>
        </p:nvSpPr>
        <p:spPr>
          <a:xfrm>
            <a:off x="1600200" y="3392424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1600200" y="33924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Cloud-led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600200" y="371246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Cloud runs catalogs and orders; edge powers in-store checkout and cameras.</a:t>
            </a:r>
            <a:endParaRPr lang="en-US" sz="1400" dirty="0"/>
          </a:p>
        </p:txBody>
      </p:sp>
      <p:sp>
        <p:nvSpPr>
          <p:cNvPr id="25" name="Telecom and Smart Cities card"/>
          <p:cNvSpPr/>
          <p:nvPr/>
        </p:nvSpPr>
        <p:spPr>
          <a:xfrm>
            <a:off x="4663440" y="2907792"/>
            <a:ext cx="4023360" cy="1673352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26" name="Telecom and Smart Cities circle"/>
          <p:cNvSpPr/>
          <p:nvPr/>
        </p:nvSpPr>
        <p:spPr>
          <a:xfrm>
            <a:off x="4892040" y="3136392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Telecom and Smart Cities icon" descr="Telecom and Smart Citi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31927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806440" y="30358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Telecom and Smart Cities</a:t>
            </a:r>
            <a:endParaRPr lang="en-US" sz="1700" dirty="0"/>
          </a:p>
        </p:txBody>
      </p:sp>
      <p:sp>
        <p:nvSpPr>
          <p:cNvPr id="29" name="Telecom and Smart Cities tag"/>
          <p:cNvSpPr/>
          <p:nvPr/>
        </p:nvSpPr>
        <p:spPr>
          <a:xfrm>
            <a:off x="5806440" y="3392424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5806440" y="33924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Edge-led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5806440" y="371246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5G edge nodes manage traffic, video and sensors close to users.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1554480" y="1828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Choosing the Right Paradigm</a:t>
            </a:r>
            <a:endParaRPr lang="en-US" sz="3000" dirty="0"/>
          </a:p>
        </p:txBody>
      </p:sp>
      <p:sp>
        <p:nvSpPr>
          <p:cNvPr id="4" name="Choose Edge when card"/>
          <p:cNvSpPr/>
          <p:nvPr/>
        </p:nvSpPr>
        <p:spPr>
          <a:xfrm>
            <a:off x="457200" y="1097280"/>
            <a:ext cx="2606040" cy="2880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Choose Edge when circle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Choose Edge when icon" descr="Choose Edge wh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1234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Choose Edge when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202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Responses must be in milliseconds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Connectivity is weak or costly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Data is sensitive or must stay local</a:t>
            </a:r>
            <a:endParaRPr lang="en-US" sz="1500" dirty="0"/>
          </a:p>
        </p:txBody>
      </p:sp>
      <p:sp>
        <p:nvSpPr>
          <p:cNvPr id="9" name="Choose Cloud when card"/>
          <p:cNvSpPr/>
          <p:nvPr/>
        </p:nvSpPr>
        <p:spPr>
          <a:xfrm>
            <a:off x="3268980" y="1097280"/>
            <a:ext cx="2606040" cy="2880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Choose Cloud when circle"/>
          <p:cNvSpPr/>
          <p:nvPr/>
        </p:nvSpPr>
        <p:spPr>
          <a:xfrm>
            <a:off x="3451860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hoose Cloud when icon" descr="Choose Cloud wh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3716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91940" y="1234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Choose Cloud when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451860" y="19202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Workloads need huge, flexible scale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Heavy analytics or AI training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Global access and sharing matter</a:t>
            </a:r>
            <a:endParaRPr lang="en-US" sz="1500" dirty="0"/>
          </a:p>
        </p:txBody>
      </p:sp>
      <p:sp>
        <p:nvSpPr>
          <p:cNvPr id="14" name="Go Hybrid when card"/>
          <p:cNvSpPr/>
          <p:nvPr/>
        </p:nvSpPr>
        <p:spPr>
          <a:xfrm>
            <a:off x="6080760" y="1097280"/>
            <a:ext cx="2606040" cy="2880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5" name="Go Hybrid when circle"/>
          <p:cNvSpPr/>
          <p:nvPr/>
        </p:nvSpPr>
        <p:spPr>
          <a:xfrm>
            <a:off x="6263640" y="12344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Go Hybrid when icon" descr="Go Hybrid wh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3720" y="1234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 Hybrid when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263640" y="19202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Real-time action and deep analysis both matter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Edge filters data, cloud stores 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Train in cloud, run models at edge</a:t>
            </a:r>
            <a:endParaRPr lang="en-US" sz="1500" dirty="0"/>
          </a:p>
        </p:txBody>
      </p:sp>
      <p:sp>
        <p:nvSpPr>
          <p:cNvPr id="19" name="Takeaway bar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Edge for speed and locality, cloud for scale and depth. Combine them for the best of both.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1554480" y="1828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4" name="Takeaway 1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Number 1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1704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Cloud gives scale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48132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Centralized, elastic, pay-as-you-go resources for heavy workloads.</a:t>
            </a:r>
            <a:endParaRPr lang="en-US" sz="1400" dirty="0"/>
          </a:p>
        </p:txBody>
      </p:sp>
      <p:sp>
        <p:nvSpPr>
          <p:cNvPr id="9" name="Takeaway 2"/>
          <p:cNvSpPr/>
          <p:nvPr/>
        </p:nvSpPr>
        <p:spPr>
          <a:xfrm>
            <a:off x="457200" y="1984248"/>
            <a:ext cx="822960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640080" y="212140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0574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Edge gives speed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36829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Local processing for real-time response, privacy and offline work.</a:t>
            </a:r>
            <a:endParaRPr lang="en-US" sz="1400" dirty="0"/>
          </a:p>
        </p:txBody>
      </p:sp>
      <p:sp>
        <p:nvSpPr>
          <p:cNvPr id="14" name="Takeaway 3"/>
          <p:cNvSpPr/>
          <p:nvPr/>
        </p:nvSpPr>
        <p:spPr>
          <a:xfrm>
            <a:off x="457200" y="2871216"/>
            <a:ext cx="822960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Number 3"/>
          <p:cNvSpPr/>
          <p:nvPr/>
        </p:nvSpPr>
        <p:spPr>
          <a:xfrm>
            <a:off x="640080" y="30083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29443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Architecture differs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325526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Cloud centralizes processing; edge distributes it close to devices.</a:t>
            </a:r>
            <a:endParaRPr lang="en-US" sz="1400" dirty="0"/>
          </a:p>
        </p:txBody>
      </p:sp>
      <p:sp>
        <p:nvSpPr>
          <p:cNvPr id="19" name="Takeaway 4"/>
          <p:cNvSpPr/>
          <p:nvPr/>
        </p:nvSpPr>
        <p:spPr>
          <a:xfrm>
            <a:off x="457200" y="3758184"/>
            <a:ext cx="822960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Number 4"/>
          <p:cNvSpPr/>
          <p:nvPr/>
        </p:nvSpPr>
        <p:spPr>
          <a:xfrm>
            <a:off x="640080" y="3895344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383133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Hybrid is the future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371600" y="41422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Edge and cloud working together as one continuum.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r circle 1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4" name="Decor circle 2"/>
          <p:cNvSpPr/>
          <p:nvPr/>
        </p:nvSpPr>
        <p:spPr>
          <a:xfrm>
            <a:off x="7498080" y="3474720"/>
            <a:ext cx="3108960" cy="3108960"/>
          </a:xfrm>
          <a:prstGeom prst="ellipse">
            <a:avLst/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5" name="Thank you card"/>
          <p:cNvSpPr/>
          <p:nvPr/>
        </p:nvSpPr>
        <p:spPr>
          <a:xfrm>
            <a:off x="1280160" y="548640"/>
            <a:ext cx="6583680" cy="402336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pic>
        <p:nvPicPr>
          <p:cNvPr id="6" name="SIMATS logo" descr="SIMATS Engineerin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777240"/>
            <a:ext cx="1188720" cy="466344"/>
          </a:xfrm>
          <a:prstGeom prst="rect">
            <a:avLst/>
          </a:prstGeom>
        </p:spPr>
      </p:pic>
      <p:pic>
        <p:nvPicPr>
          <p:cNvPr id="7" name="Emblem" descr="SIMATS embl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731520"/>
            <a:ext cx="822960" cy="696773"/>
          </a:xfrm>
          <a:prstGeom prst="rect">
            <a:avLst/>
          </a:prstGeom>
        </p:spPr>
      </p:pic>
      <p:pic>
        <p:nvPicPr>
          <p:cNvPr id="8" name="Cloud icon" descr="Clo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417320"/>
            <a:ext cx="502920" cy="502920"/>
          </a:xfrm>
          <a:prstGeom prst="rect">
            <a:avLst/>
          </a:prstGeom>
        </p:spPr>
      </p:pic>
      <p:pic>
        <p:nvPicPr>
          <p:cNvPr id="9" name="Edge icon" descr="Edge chi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17320"/>
            <a:ext cx="502920" cy="502920"/>
          </a:xfrm>
          <a:prstGeom prst="rect">
            <a:avLst/>
          </a:prstGeom>
        </p:spPr>
      </p:pic>
      <p:sp>
        <p:nvSpPr>
          <p:cNvPr id="10" name="Link"/>
          <p:cNvSpPr/>
          <p:nvPr/>
        </p:nvSpPr>
        <p:spPr>
          <a:xfrm>
            <a:off x="4206240" y="1664208"/>
            <a:ext cx="73152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dash"/>
            <a:headEnd type="triangle"/>
            <a:tailEnd type="triangle"/>
          </a:ln>
        </p:spPr>
      </p:sp>
      <p:sp>
        <p:nvSpPr>
          <p:cNvPr id="11" name="Text 4"/>
          <p:cNvSpPr txBox="1"/>
          <p:nvPr/>
        </p:nvSpPr>
        <p:spPr>
          <a:xfrm>
            <a:off x="1463040" y="20116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2" name="Text 5"/>
          <p:cNvSpPr txBox="1"/>
          <p:nvPr/>
        </p:nvSpPr>
        <p:spPr>
          <a:xfrm>
            <a:off x="1463040" y="2834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Edge Computing vs Cloud Computing</a:t>
            </a:r>
            <a:endParaRPr lang="en-US" sz="1800" dirty="0"/>
          </a:p>
        </p:txBody>
      </p:sp>
      <p:sp>
        <p:nvSpPr>
          <p:cNvPr id="13" name="Text 6"/>
          <p:cNvSpPr txBox="1"/>
          <p:nvPr/>
        </p:nvSpPr>
        <p:spPr>
          <a:xfrm>
            <a:off x="1463040" y="3246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Any Questions?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1463040" y="3840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CSA1514  |  CLOUD COMPUTING  |  Faculty: DR.LATHA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Edge">
  <a:themeElements>
    <a:clrScheme name="CloudEdge">
      <a:dk1>
        <a:srgbClr val="222B3A"/>
      </a:dk1>
      <a:lt1>
        <a:srgbClr val="FFFFFF"/>
      </a:lt1>
      <a:dk2>
        <a:srgbClr val="1F3864"/>
      </a:dk2>
      <a:lt2>
        <a:srgbClr val="EAF3F6"/>
      </a:lt2>
      <a:accent1>
        <a:srgbClr val="1F3864"/>
      </a:accent1>
      <a:accent2>
        <a:srgbClr val="1F7A8C"/>
      </a:accent2>
      <a:accent3>
        <a:srgbClr val="F2A541"/>
      </a:accent3>
      <a:accent4>
        <a:srgbClr val="3A6EA5"/>
      </a:accent4>
      <a:accent5>
        <a:srgbClr val="5FB3C4"/>
      </a:accent5>
      <a:accent6>
        <a:srgbClr val="5B6B80"/>
      </a:accent6>
      <a:hlink>
        <a:srgbClr val="1F7A8C"/>
      </a:hlink>
      <a:folHlink>
        <a:srgbClr val="5B6B80"/>
      </a:folHlink>
    </a:clrScheme>
    <a:fontScheme name="CloudEdg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Computing vs Cloud Computing</dc:title>
  <dc:subject>PptxGenJS Presentation</dc:subject>
  <dc:creator>CSA1514 - Cloud Computing</dc:creator>
  <cp:lastModifiedBy>CSA1514 - Cloud Computing</cp:lastModifiedBy>
  <cp:revision>1</cp:revision>
  <dcterms:created xsi:type="dcterms:W3CDTF">2026-10-08T06:50:14Z</dcterms:created>
  <dcterms:modified xsi:type="dcterms:W3CDTF">2026-10-08T06:50:14Z</dcterms:modified>
</cp:coreProperties>
</file>